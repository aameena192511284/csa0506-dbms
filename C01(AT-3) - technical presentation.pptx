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2" r:id="rId4"/>
    <p:sldId id="258" r:id="rId5"/>
    <p:sldId id="259" r:id="rId6"/>
    <p:sldId id="260" r:id="rId7"/>
    <p:sldId id="261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1500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1721" y="1262716"/>
            <a:ext cx="8679250" cy="391914"/>
          </a:xfrm>
        </p:spPr>
        <p:txBody>
          <a:bodyPr>
            <a:noAutofit/>
          </a:bodyPr>
          <a:lstStyle/>
          <a:p>
            <a:r>
              <a:rPr sz="4800" b="1" dirty="0"/>
              <a:t>Library</a:t>
            </a:r>
            <a:r>
              <a:rPr lang="en-IN" sz="4800" b="1" dirty="0"/>
              <a:t> management </a:t>
            </a:r>
            <a:r>
              <a:rPr sz="4800" b="1" dirty="0"/>
              <a:t>System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835" y="2076717"/>
            <a:ext cx="8802330" cy="1182996"/>
          </a:xfrm>
        </p:spPr>
        <p:txBody>
          <a:bodyPr>
            <a:normAutofit fontScale="77500" lnSpcReduction="20000"/>
          </a:bodyPr>
          <a:lstStyle/>
          <a:p>
            <a:r>
              <a:rPr lang="en-US" b="1" i="1" dirty="0">
                <a:solidFill>
                  <a:schemeClr val="accent1">
                    <a:lumMod val="75000"/>
                  </a:schemeClr>
                </a:solidFill>
              </a:rPr>
              <a:t>Subject: Database Management System (CSA0506)</a:t>
            </a:r>
          </a:p>
          <a:p>
            <a:r>
              <a:rPr lang="en-US" b="1" i="1" dirty="0">
                <a:solidFill>
                  <a:schemeClr val="accent1">
                    <a:lumMod val="75000"/>
                  </a:schemeClr>
                </a:solidFill>
              </a:rPr>
              <a:t>A Technical presentation by</a:t>
            </a:r>
          </a:p>
          <a:p>
            <a:r>
              <a:rPr lang="en-US" b="1" i="1" dirty="0">
                <a:solidFill>
                  <a:schemeClr val="accent1">
                    <a:lumMod val="75000"/>
                  </a:schemeClr>
                </a:solidFill>
              </a:rPr>
              <a:t>Aameena. I (192511285)</a:t>
            </a:r>
            <a:endParaRPr b="1" i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E36D30E-DCBE-93CE-24FA-289800E878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9396"/>
            <a:ext cx="9144000" cy="138075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9E7B826-093B-C6E8-CEAB-BBC69B725F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1045" y="3271684"/>
            <a:ext cx="4831032" cy="341968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D3E2650-7511-8D45-CA29-6B63DE46A252}"/>
              </a:ext>
            </a:extLst>
          </p:cNvPr>
          <p:cNvSpPr txBox="1"/>
          <p:nvPr/>
        </p:nvSpPr>
        <p:spPr>
          <a:xfrm>
            <a:off x="6912078" y="5355149"/>
            <a:ext cx="184846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i="1" dirty="0">
                <a:solidFill>
                  <a:schemeClr val="accent1">
                    <a:lumMod val="75000"/>
                  </a:schemeClr>
                </a:solidFill>
              </a:rPr>
              <a:t>Under the guidance of,</a:t>
            </a:r>
          </a:p>
          <a:p>
            <a:endParaRPr lang="en-US" sz="2000" b="1" i="1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2000" b="1" i="1" dirty="0">
                <a:solidFill>
                  <a:schemeClr val="accent1">
                    <a:lumMod val="75000"/>
                  </a:schemeClr>
                </a:solidFill>
              </a:rPr>
              <a:t>Dr. Hemavathi</a:t>
            </a:r>
            <a:endParaRPr lang="en-IN" sz="2000" b="1" i="1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0040" y="166483"/>
            <a:ext cx="8229600" cy="1143000"/>
          </a:xfrm>
        </p:spPr>
        <p:txBody>
          <a:bodyPr>
            <a:normAutofit/>
          </a:bodyPr>
          <a:lstStyle/>
          <a:p>
            <a:r>
              <a:rPr lang="en-US" sz="6000" b="1" dirty="0"/>
              <a:t>INTRODUCTION</a:t>
            </a:r>
            <a:endParaRPr sz="6000" b="1" dirty="0"/>
          </a:p>
        </p:txBody>
      </p:sp>
      <p:sp>
        <p:nvSpPr>
          <p:cNvPr id="4" name="TextBox 3"/>
          <p:cNvSpPr txBox="1"/>
          <p:nvPr/>
        </p:nvSpPr>
        <p:spPr>
          <a:xfrm>
            <a:off x="182388" y="1990540"/>
            <a:ext cx="8367252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just">
              <a:buFont typeface="Wingdings" panose="05000000000000000000" pitchFamily="2" charset="2"/>
              <a:buChar char="v"/>
              <a:defRPr sz="2000"/>
            </a:pPr>
            <a:r>
              <a:rPr lang="en-IN" sz="3200" dirty="0"/>
              <a:t>An </a:t>
            </a:r>
            <a:r>
              <a:rPr lang="en-IN" sz="3200" b="1" dirty="0"/>
              <a:t>Entity Relationship (ER) Diagram</a:t>
            </a:r>
            <a:r>
              <a:rPr lang="en-IN" sz="3200" dirty="0"/>
              <a:t> is a graphical representation of a database. </a:t>
            </a:r>
          </a:p>
          <a:p>
            <a:pPr marL="457200" indent="-457200" algn="just">
              <a:buFont typeface="Wingdings" panose="05000000000000000000" pitchFamily="2" charset="2"/>
              <a:buChar char="v"/>
              <a:defRPr sz="2000"/>
            </a:pPr>
            <a:r>
              <a:rPr lang="en-IN" sz="3200" dirty="0"/>
              <a:t>It shows </a:t>
            </a:r>
            <a:r>
              <a:rPr lang="en-IN" sz="3200" b="1" dirty="0"/>
              <a:t>entities</a:t>
            </a:r>
            <a:r>
              <a:rPr lang="en-IN" sz="3200" dirty="0"/>
              <a:t>, their </a:t>
            </a:r>
            <a:r>
              <a:rPr lang="en-IN" sz="3200" b="1" dirty="0"/>
              <a:t>attributes</a:t>
            </a:r>
            <a:r>
              <a:rPr lang="en-IN" sz="3200" dirty="0"/>
              <a:t>, and the </a:t>
            </a:r>
            <a:r>
              <a:rPr lang="en-IN" sz="3200" b="1" dirty="0"/>
              <a:t>relationships</a:t>
            </a:r>
            <a:r>
              <a:rPr lang="en-IN" sz="3200" dirty="0"/>
              <a:t> between them. </a:t>
            </a:r>
          </a:p>
          <a:p>
            <a:pPr marL="457200" indent="-457200" algn="just">
              <a:buFont typeface="Wingdings" panose="05000000000000000000" pitchFamily="2" charset="2"/>
              <a:buChar char="v"/>
              <a:defRPr sz="2000"/>
            </a:pPr>
            <a:r>
              <a:rPr lang="en-IN" sz="3200" dirty="0"/>
              <a:t>In an </a:t>
            </a:r>
            <a:r>
              <a:rPr lang="en-IN" sz="3200" b="1" dirty="0"/>
              <a:t> Library management System</a:t>
            </a:r>
            <a:r>
              <a:rPr lang="en-IN" sz="3200" dirty="0"/>
              <a:t>, the ER diagram helps organize information about </a:t>
            </a:r>
            <a:r>
              <a:rPr lang="en-IN" sz="3200" b="1" dirty="0"/>
              <a:t>books, members, librarians, and borrowing records</a:t>
            </a:r>
            <a:r>
              <a:rPr lang="en-IN" sz="3200" dirty="0"/>
              <a:t>. </a:t>
            </a:r>
          </a:p>
          <a:p>
            <a:pPr marL="457200" indent="-457200" algn="just">
              <a:buFont typeface="Wingdings" panose="05000000000000000000" pitchFamily="2" charset="2"/>
              <a:buChar char="v"/>
              <a:defRPr sz="2000"/>
            </a:pPr>
            <a:r>
              <a:rPr lang="en-IN" sz="3200" dirty="0"/>
              <a:t>It provides a clear blueprint for designing an efficient and well-structured database.</a:t>
            </a:r>
            <a:endParaRPr sz="3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652EC22-0F72-CC32-DB6F-DE800FFB05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7316" y="0"/>
            <a:ext cx="636936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9127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1143000"/>
          </a:xfrm>
        </p:spPr>
        <p:txBody>
          <a:bodyPr>
            <a:noAutofit/>
          </a:bodyPr>
          <a:lstStyle/>
          <a:p>
            <a:r>
              <a:rPr lang="en-IN" sz="6000" b="1" dirty="0"/>
              <a:t>Entities</a:t>
            </a:r>
            <a:endParaRPr sz="6000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Wingdings" panose="05000000000000000000" pitchFamily="2" charset="2"/>
              <a:buChar char="v"/>
            </a:pPr>
            <a:endParaRPr lang="en-IN" sz="3200" b="1" dirty="0"/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IN" sz="3200" b="1" dirty="0"/>
              <a:t>Member</a:t>
            </a:r>
            <a:r>
              <a:rPr lang="en-IN" sz="3200" dirty="0"/>
              <a:t> – Stores member details. </a:t>
            </a:r>
          </a:p>
          <a:p>
            <a:pPr marL="457200" indent="-457200">
              <a:buFont typeface="Wingdings" panose="05000000000000000000" pitchFamily="2" charset="2"/>
              <a:buChar char="v"/>
            </a:pPr>
            <a:endParaRPr lang="en-IN" sz="3200" dirty="0"/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IN" sz="3200" b="1" dirty="0"/>
              <a:t>Book</a:t>
            </a:r>
            <a:r>
              <a:rPr lang="en-IN" sz="3200" dirty="0"/>
              <a:t> – Stores book information. </a:t>
            </a:r>
          </a:p>
          <a:p>
            <a:pPr marL="457200" indent="-457200">
              <a:buFont typeface="Wingdings" panose="05000000000000000000" pitchFamily="2" charset="2"/>
              <a:buChar char="v"/>
            </a:pPr>
            <a:endParaRPr lang="en-IN" sz="3200" dirty="0"/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IN" sz="3200" b="1" dirty="0"/>
              <a:t>Loan</a:t>
            </a:r>
            <a:r>
              <a:rPr lang="en-IN" sz="3200" dirty="0"/>
              <a:t> – Stores book issue and return records. </a:t>
            </a:r>
          </a:p>
          <a:p>
            <a:pPr marL="457200" indent="-457200">
              <a:buFont typeface="Wingdings" panose="05000000000000000000" pitchFamily="2" charset="2"/>
              <a:buChar char="v"/>
            </a:pPr>
            <a:endParaRPr lang="en-IN" sz="3200" dirty="0"/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IN" sz="3200" b="1" dirty="0"/>
              <a:t>Author</a:t>
            </a:r>
            <a:r>
              <a:rPr lang="en-IN" sz="3200" dirty="0"/>
              <a:t> – Stores author information. </a:t>
            </a:r>
          </a:p>
          <a:p>
            <a:pPr marL="457200" indent="-457200">
              <a:buFont typeface="Wingdings" panose="05000000000000000000" pitchFamily="2" charset="2"/>
              <a:buChar char="v"/>
            </a:pPr>
            <a:endParaRPr lang="en-IN" sz="3200" dirty="0"/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IN" sz="3200" b="1" dirty="0"/>
              <a:t>Category</a:t>
            </a:r>
            <a:r>
              <a:rPr lang="en-IN" sz="3200" dirty="0"/>
              <a:t> – Stores book categories.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b="1" dirty="0"/>
              <a:t>Relationships</a:t>
            </a:r>
            <a:endParaRPr sz="6000" b="1" dirty="0"/>
          </a:p>
        </p:txBody>
      </p:sp>
      <p:sp>
        <p:nvSpPr>
          <p:cNvPr id="4" name="TextBox 3"/>
          <p:cNvSpPr txBox="1"/>
          <p:nvPr/>
        </p:nvSpPr>
        <p:spPr>
          <a:xfrm>
            <a:off x="387391" y="1809135"/>
            <a:ext cx="8402648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Wingdings" panose="05000000000000000000" pitchFamily="2" charset="2"/>
              <a:buChar char="v"/>
            </a:pPr>
            <a:r>
              <a:rPr lang="en-IN" sz="3200" b="1" dirty="0"/>
              <a:t>Member BORROWS Loan</a:t>
            </a:r>
            <a:r>
              <a:rPr lang="en-IN" sz="3200" dirty="0"/>
              <a:t> </a:t>
            </a:r>
            <a:r>
              <a:rPr lang="en-IN" sz="3200" i="1" dirty="0"/>
              <a:t>(1 : N)</a:t>
            </a:r>
            <a:r>
              <a:rPr lang="en-IN" sz="3200" dirty="0"/>
              <a:t> One member can have multiple loan records. </a:t>
            </a:r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IN" sz="3200" b="1" dirty="0"/>
              <a:t>Loan contains Book</a:t>
            </a:r>
            <a:r>
              <a:rPr lang="en-IN" sz="3200" dirty="0"/>
              <a:t> </a:t>
            </a:r>
            <a:r>
              <a:rPr lang="en-IN" sz="3200" i="1" dirty="0"/>
              <a:t>(N : 1)</a:t>
            </a:r>
            <a:r>
              <a:rPr lang="en-IN" sz="3200" dirty="0"/>
              <a:t> Each loan is for one book. </a:t>
            </a:r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IN" sz="3200" b="1" dirty="0"/>
              <a:t>Book WRITTEN_BY Author</a:t>
            </a:r>
            <a:r>
              <a:rPr lang="en-IN" sz="3200" dirty="0"/>
              <a:t> </a:t>
            </a:r>
            <a:r>
              <a:rPr lang="en-IN" sz="3200" i="1" dirty="0"/>
              <a:t>(N : 1)</a:t>
            </a:r>
            <a:r>
              <a:rPr lang="en-IN" sz="3200" dirty="0"/>
              <a:t> One author can write many books. </a:t>
            </a:r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IN" sz="3200" b="1" dirty="0"/>
              <a:t>Book BELONGS_TO Category</a:t>
            </a:r>
            <a:r>
              <a:rPr lang="en-IN" sz="3200" dirty="0"/>
              <a:t> </a:t>
            </a:r>
            <a:r>
              <a:rPr lang="en-IN" sz="3200" i="1" dirty="0"/>
              <a:t>(N : 1)</a:t>
            </a:r>
            <a:r>
              <a:rPr lang="en-IN" sz="3200" dirty="0"/>
              <a:t> One category contains many books.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2880" y="274638"/>
            <a:ext cx="8229600" cy="1143000"/>
          </a:xfrm>
        </p:spPr>
        <p:txBody>
          <a:bodyPr>
            <a:normAutofit/>
          </a:bodyPr>
          <a:lstStyle/>
          <a:p>
            <a:r>
              <a:rPr lang="en-US" sz="6000" b="1" dirty="0"/>
              <a:t>NOTE</a:t>
            </a:r>
            <a:endParaRPr sz="6000" b="1" dirty="0"/>
          </a:p>
        </p:txBody>
      </p:sp>
      <p:sp>
        <p:nvSpPr>
          <p:cNvPr id="4" name="TextBox 3"/>
          <p:cNvSpPr txBox="1"/>
          <p:nvPr/>
        </p:nvSpPr>
        <p:spPr>
          <a:xfrm>
            <a:off x="548640" y="1954653"/>
            <a:ext cx="8143448" cy="35394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457200" indent="-457200">
              <a:buFont typeface="Wingdings" panose="05000000000000000000" pitchFamily="2" charset="2"/>
              <a:buChar char="v"/>
              <a:defRPr sz="2000"/>
            </a:pPr>
            <a:r>
              <a:rPr sz="3200" dirty="0"/>
              <a:t>Entities: Objects stored in DB.</a:t>
            </a:r>
            <a:endParaRPr lang="en-US" sz="3200" dirty="0"/>
          </a:p>
          <a:p>
            <a:pPr marL="457200" indent="-457200">
              <a:buFont typeface="Wingdings" panose="05000000000000000000" pitchFamily="2" charset="2"/>
              <a:buChar char="v"/>
              <a:defRPr sz="2000"/>
            </a:pPr>
            <a:endParaRPr sz="3200" dirty="0"/>
          </a:p>
          <a:p>
            <a:pPr marL="457200" indent="-457200">
              <a:buFont typeface="Wingdings" panose="05000000000000000000" pitchFamily="2" charset="2"/>
              <a:buChar char="v"/>
              <a:defRPr sz="2000"/>
            </a:pPr>
            <a:r>
              <a:rPr sz="3200" dirty="0"/>
              <a:t>Attributes: Properties of entities.</a:t>
            </a:r>
            <a:endParaRPr lang="en-US" sz="3200" dirty="0"/>
          </a:p>
          <a:p>
            <a:pPr marL="457200" indent="-457200">
              <a:buFont typeface="Wingdings" panose="05000000000000000000" pitchFamily="2" charset="2"/>
              <a:buChar char="v"/>
              <a:defRPr sz="2000"/>
            </a:pPr>
            <a:endParaRPr sz="3200" dirty="0"/>
          </a:p>
          <a:p>
            <a:pPr marL="457200" indent="-457200">
              <a:buFont typeface="Wingdings" panose="05000000000000000000" pitchFamily="2" charset="2"/>
              <a:buChar char="v"/>
              <a:defRPr sz="2000"/>
            </a:pPr>
            <a:r>
              <a:rPr sz="3200" dirty="0"/>
              <a:t>Relationships: Connections between entities.</a:t>
            </a:r>
            <a:endParaRPr lang="en-US" sz="3200" dirty="0"/>
          </a:p>
          <a:p>
            <a:pPr marL="457200" indent="-457200">
              <a:buFont typeface="Wingdings" panose="05000000000000000000" pitchFamily="2" charset="2"/>
              <a:buChar char="v"/>
              <a:defRPr sz="2000"/>
            </a:pPr>
            <a:endParaRPr sz="3200" dirty="0"/>
          </a:p>
          <a:p>
            <a:pPr marL="457200" indent="-457200">
              <a:buFont typeface="Wingdings" panose="05000000000000000000" pitchFamily="2" charset="2"/>
              <a:buChar char="v"/>
              <a:defRPr sz="2000"/>
            </a:pPr>
            <a:r>
              <a:rPr lang="en-IN" sz="3200" dirty="0"/>
              <a:t>Primary </a:t>
            </a:r>
            <a:r>
              <a:rPr sz="3200" dirty="0"/>
              <a:t>keys uniquely identify records.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502844" y="2509192"/>
            <a:ext cx="4138312" cy="120032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/>
            </a:pPr>
            <a:r>
              <a:rPr sz="7200" b="1" i="1" dirty="0"/>
              <a:t>Thank You</a:t>
            </a:r>
          </a:p>
        </p:txBody>
      </p:sp>
      <p:sp>
        <p:nvSpPr>
          <p:cNvPr id="5" name="Ribbon: Tilted Up 4">
            <a:extLst>
              <a:ext uri="{FF2B5EF4-FFF2-40B4-BE49-F238E27FC236}">
                <a16:creationId xmlns:a16="http://schemas.microsoft.com/office/drawing/2014/main" id="{64C35D33-9157-1F2E-F40B-E4AD1844FDBC}"/>
              </a:ext>
            </a:extLst>
          </p:cNvPr>
          <p:cNvSpPr/>
          <p:nvPr/>
        </p:nvSpPr>
        <p:spPr>
          <a:xfrm>
            <a:off x="383458" y="1986116"/>
            <a:ext cx="8377084" cy="2330245"/>
          </a:xfrm>
          <a:prstGeom prst="ribbon2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221</Words>
  <Application>Microsoft Office PowerPoint</Application>
  <PresentationFormat>On-screen Show (4:3)</PresentationFormat>
  <Paragraphs>37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Wingdings</vt:lpstr>
      <vt:lpstr>Office Theme</vt:lpstr>
      <vt:lpstr>Library management System</vt:lpstr>
      <vt:lpstr>INTRODUCTION</vt:lpstr>
      <vt:lpstr>PowerPoint Presentation</vt:lpstr>
      <vt:lpstr>Entities</vt:lpstr>
      <vt:lpstr>Relationships</vt:lpstr>
      <vt:lpstr>NOTE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Dell</dc:creator>
  <cp:keywords/>
  <dc:description>generated using python-pptx</dc:description>
  <cp:lastModifiedBy>Sindhiya R</cp:lastModifiedBy>
  <cp:revision>4</cp:revision>
  <dcterms:created xsi:type="dcterms:W3CDTF">2013-01-27T09:14:16Z</dcterms:created>
  <dcterms:modified xsi:type="dcterms:W3CDTF">2026-07-21T03:19:07Z</dcterms:modified>
  <cp:category/>
</cp:coreProperties>
</file>